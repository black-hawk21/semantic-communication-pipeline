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4" r:id="rId3"/>
    <p:sldId id="257" r:id="rId4"/>
    <p:sldId id="258" r:id="rId5"/>
    <p:sldId id="261" r:id="rId6"/>
    <p:sldId id="259" r:id="rId7"/>
    <p:sldId id="260" r:id="rId8"/>
    <p:sldId id="263" r:id="rId9"/>
    <p:sldId id="265" r:id="rId10"/>
    <p:sldId id="266" r:id="rId11"/>
    <p:sldId id="270" r:id="rId12"/>
    <p:sldId id="279" r:id="rId13"/>
    <p:sldId id="280" r:id="rId14"/>
    <p:sldId id="278" r:id="rId15"/>
    <p:sldId id="267" r:id="rId16"/>
    <p:sldId id="268" r:id="rId17"/>
    <p:sldId id="269" r:id="rId18"/>
    <p:sldId id="286" r:id="rId19"/>
    <p:sldId id="272" r:id="rId20"/>
    <p:sldId id="273" r:id="rId21"/>
    <p:sldId id="274" r:id="rId22"/>
    <p:sldId id="276" r:id="rId23"/>
    <p:sldId id="287" r:id="rId24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81" r:id="rId25"/>
    <p:sldId id="282" r:id="rId26"/>
    <p:sldId id="283" r:id="rId27"/>
    <p:sldId id="284" r:id="rId28"/>
    <p:sldId id="271" r:id="rId29"/>
    <p:sldId id="288" r:id="rId30"/>
    <p:sldId id="27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ranil basak" userId="05e480bd00f65c9d" providerId="LiveId" clId="{8B75B171-4255-4379-B73D-6D7BB3838A83}"/>
    <pc:docChg chg="undo custSel addSld delSld modSld">
      <pc:chgData name="shubhranil basak" userId="05e480bd00f65c9d" providerId="LiveId" clId="{8B75B171-4255-4379-B73D-6D7BB3838A83}" dt="2026-05-06T15:24:02.021" v="66" actId="680"/>
      <pc:docMkLst>
        <pc:docMk/>
      </pc:docMkLst>
      <pc:sldChg chg="new">
        <pc:chgData name="shubhranil basak" userId="05e480bd00f65c9d" providerId="LiveId" clId="{8B75B171-4255-4379-B73D-6D7BB3838A83}" dt="2026-05-06T15:24:01.339" v="65" actId="680"/>
        <pc:sldMkLst>
          <pc:docMk/>
          <pc:sldMk cId="1258979336" sldId="265"/>
        </pc:sldMkLst>
      </pc:sldChg>
      <pc:sldChg chg="new">
        <pc:chgData name="shubhranil basak" userId="05e480bd00f65c9d" providerId="LiveId" clId="{8B75B171-4255-4379-B73D-6D7BB3838A83}" dt="2026-05-06T15:24:02.021" v="66" actId="680"/>
        <pc:sldMkLst>
          <pc:docMk/>
          <pc:sldMk cId="2792698901" sldId="26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98E52-CEAE-460A-A851-6B56056B3F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3A33E-9440-45A7-B661-EA2DBACBC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54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3A33E-9440-45A7-B661-EA2DBACBC3D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7444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7F80-592C-B6F3-E446-E903BADE6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6F6DD-B09C-D4C8-C0AD-9B82B97B0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94E56-5944-AB87-6F08-91E998572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BC7C-415E-7D9D-E463-7D5608C3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72B08-1AEC-7EF5-328E-EC890CFB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998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1E478-0FA1-919B-2F52-99B427CA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78CD-4846-ED9C-1523-C9CF9F934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FB848-A586-8139-6BF2-DBEB424C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1D144-925D-E641-A0A3-51103805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5E734-B4DE-71F4-AB30-E13585AA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347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3DA3-1356-28D1-3EA4-BB16CA90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09158-FA71-3953-A4CD-9818E02A4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F6FAA-C9FD-E30B-56EF-5F664C8E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8E03C-012F-67B4-FD69-8EE87207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1A620-B7A8-0702-66B0-1B6C9E75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18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B48E-C032-5CC2-3E2F-AA9A2DDDE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0F70F-E349-28F9-D18C-7E63115E0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1883E-7384-AD10-E865-B2D5EF729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B40C7-E24E-565F-3629-E78F5AD1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EDD4F-78F4-5D7D-82BA-78F04BFD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D58B9-60C7-DD03-4193-9704C297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30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CB5D-AE12-F591-FDC4-EE7306A2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BB4E5-C335-2307-0BF0-4C038986F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CAF35-4628-E54A-FDDD-34F758F23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02B59-3DE2-E7AB-EA22-822807A05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42097-E9E1-ADF5-4C40-7FE49E42D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3CF80-2F40-823D-E912-7802085C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9B2E4-6E7B-2D62-C057-2998BFB2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20A862-8548-2725-CCD1-AC70F3ED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601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305C-088A-AC87-8731-415E853B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7DDC4-E36A-06A9-A4A7-2AAC5796F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92C35-B823-C4EA-7487-A7A43ADD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C8F98-E1AA-12AA-375A-8FD55C46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74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9A048-C129-B622-65C8-759D58FD5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A5001-1894-7C5E-4C73-13B57288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F111D-620F-2EE6-2394-02D7BB4D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15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0FD9F-0557-4E34-7CC8-F53BDC60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F2DFE-6A34-579A-23D8-A7CCF2948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59B8D-0003-5757-F306-9A83C2679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46756-C677-EAD3-6BB7-0A376C88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0A075-A605-EC10-9455-57413D95D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C8740-C9E9-A52E-0690-6884D8CE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43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4F74-C286-BCF9-0F00-FA1A4B35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00C46-69D4-8A5F-506E-3ABBF6425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94FAD-320B-EACB-95E2-05685AA97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D771E-6B2A-906B-2AE5-C4AD773ED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F1574-75F4-FDBA-9EB2-AA8A1C22A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8D5EC-8A7C-4790-5B8D-04F1EC5A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16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CD5E3-6EEB-18FB-34A1-5C3287D23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C888C-7455-44EE-4F7B-22DDB93D4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59919-868F-359D-2C77-62A5B1C1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B5778-DE36-BEA1-C9A6-AC90E03D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24ADB-029C-A321-4B3B-7D6497AB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387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54EA1-8005-5DD3-7211-FE6829CFA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E5EFB-2DE2-1745-AE0D-960E122B4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F7943-6A87-A7B8-83FA-0FC7AA8E4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3C574-0F69-5319-7B2D-615E698C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AF66C-C667-231B-3163-0E1E5706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120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10F0B4-C59F-0A98-F077-8E4147269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EA259-A952-0F84-CBD9-821C0CCEE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9605-65C7-5525-DBA0-44A251ADD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E3512-9907-4B41-8CEC-2FD2FF1D8E5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164F2-ABC4-E718-48B1-25541080C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30A19-12BC-7E64-1CAE-D2DBF0E10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C413-7A59-414C-9B12-CF647C15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592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B0FE-3D4F-BD5E-9203-4ED5EC05D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Report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99461-B1FE-DD7A-5919-7565AB1A85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Until 11/02/2026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303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FA22-D337-0343-24F3-9B97DE69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7CEB9-39A2-39A7-65EF-20414665A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0153"/>
            <a:ext cx="10872019" cy="4653833"/>
          </a:xfrm>
        </p:spPr>
        <p:txBody>
          <a:bodyPr>
            <a:normAutofit/>
          </a:bodyPr>
          <a:lstStyle/>
          <a:p>
            <a:r>
              <a:rPr lang="en-US" sz="2200" dirty="0"/>
              <a:t>6G communication systems must support </a:t>
            </a:r>
            <a:r>
              <a:rPr lang="en-US" sz="2200" b="1" dirty="0"/>
              <a:t>ultra-reliable, low-latency, and mission-critical applications</a:t>
            </a:r>
            <a:r>
              <a:rPr lang="en-US" sz="2200" dirty="0"/>
              <a:t>, making robustness against adversarial channel attacks essential.</a:t>
            </a:r>
          </a:p>
          <a:p>
            <a:r>
              <a:rPr lang="en-US" sz="2200" dirty="0"/>
              <a:t>Semantic communication focuses on transmitting task-relevant meaning rather than raw bits, enabling more </a:t>
            </a:r>
            <a:r>
              <a:rPr lang="en-US" sz="2200" b="1" dirty="0"/>
              <a:t>efficient bandwidth usage</a:t>
            </a:r>
            <a:r>
              <a:rPr lang="en-US" sz="2200" dirty="0"/>
              <a:t> and </a:t>
            </a:r>
            <a:r>
              <a:rPr lang="en-US" sz="2200" b="1" dirty="0"/>
              <a:t>lower latency</a:t>
            </a:r>
            <a:r>
              <a:rPr lang="en-US" sz="2200" dirty="0"/>
              <a:t>.</a:t>
            </a:r>
          </a:p>
          <a:p>
            <a:r>
              <a:rPr lang="en-US" sz="2200" dirty="0"/>
              <a:t>Existing security mechanisms are largely </a:t>
            </a:r>
            <a:r>
              <a:rPr lang="en-US" sz="2200" b="1" dirty="0"/>
              <a:t>static, reactive, and attack-specific</a:t>
            </a:r>
            <a:r>
              <a:rPr lang="en-US" sz="2200" dirty="0"/>
              <a:t>, limiting their ability to handle unknown or evolving threats.</a:t>
            </a:r>
          </a:p>
          <a:p>
            <a:r>
              <a:rPr lang="en-US" sz="2200" dirty="0"/>
              <a:t>A communication system that can </a:t>
            </a:r>
            <a:r>
              <a:rPr lang="en-US" sz="2200" b="1" dirty="0"/>
              <a:t>autonomously detect attacks, assess their impact, and recover performance</a:t>
            </a:r>
            <a:r>
              <a:rPr lang="en-US" sz="2200" dirty="0"/>
              <a:t> is therefore highly desirable.</a:t>
            </a:r>
          </a:p>
          <a:p>
            <a:r>
              <a:rPr lang="en-US" sz="2200" b="1" dirty="0"/>
              <a:t>Reinforcement learning–based action planning</a:t>
            </a:r>
            <a:r>
              <a:rPr lang="en-US" sz="2200" dirty="0"/>
              <a:t> enables adaptive decision-making, allowing the system to learn optimal countermeasures through interaction with the environment.</a:t>
            </a:r>
          </a:p>
          <a:p>
            <a:r>
              <a:rPr lang="en-US" sz="2200" dirty="0"/>
              <a:t>This project targets a </a:t>
            </a:r>
            <a:r>
              <a:rPr lang="en-US" sz="2200" b="1" dirty="0"/>
              <a:t>closed-loop, self-healing semantic communication architecture</a:t>
            </a:r>
            <a:r>
              <a:rPr lang="en-US" sz="2200" dirty="0"/>
              <a:t> that enhances resilience and autonomy for future 6G networks.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38263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2B5E-B728-3516-CA50-7E06B6EE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A0501-A6F8-33AC-FD4F-B8C52F99B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an end to end self healing semantic communication system.</a:t>
            </a:r>
          </a:p>
          <a:p>
            <a:r>
              <a:rPr lang="en-IN" dirty="0"/>
              <a:t>It should first identify the type of attack being performed</a:t>
            </a:r>
          </a:p>
          <a:p>
            <a:r>
              <a:rPr lang="en-IN" dirty="0"/>
              <a:t>Then try to evade the attack or reduce the impact of attack</a:t>
            </a:r>
          </a:p>
          <a:p>
            <a:r>
              <a:rPr lang="en-IN" dirty="0"/>
              <a:t>Novelty part of the project: Add a feedback system for self healing based on RL to take necessary actions during and after the attack</a:t>
            </a:r>
          </a:p>
        </p:txBody>
      </p:sp>
    </p:spTree>
    <p:extLst>
      <p:ext uri="{BB962C8B-B14F-4D97-AF65-F5344CB8AC3E}">
        <p14:creationId xmlns:p14="http://schemas.microsoft.com/office/powerpoint/2010/main" val="2043142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9F59-962B-49C7-06D7-E8D67B36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Paper/Journal Survey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35C46E-FDDA-DCDA-39BF-4E827290E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0913012"/>
              </p:ext>
            </p:extLst>
          </p:nvPr>
        </p:nvGraphicFramePr>
        <p:xfrm>
          <a:off x="838200" y="1825624"/>
          <a:ext cx="10515600" cy="38539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8773725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654331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530048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998650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64949205"/>
                    </a:ext>
                  </a:extLst>
                </a:gridCol>
              </a:tblGrid>
              <a:tr h="360092"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Type of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DNN/Algo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How to Detect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700355"/>
                  </a:ext>
                </a:extLst>
              </a:tr>
              <a:tr h="1094557">
                <a:tc>
                  <a:txBody>
                    <a:bodyPr/>
                    <a:lstStyle/>
                    <a:p>
                      <a:r>
                        <a:rPr lang="en-US" sz="1400" dirty="0"/>
                        <a:t>Adversarial Attacks and Defenses for Semantic Communication in Vehicular Metaverses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Semantic Noise Attack (SNA)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DNNs as semantic codecs (e.g., </a:t>
                      </a:r>
                      <a:r>
                        <a:rPr lang="en-IN" sz="1400" dirty="0" err="1"/>
                        <a:t>ResNet</a:t>
                      </a:r>
                      <a:r>
                        <a:rPr lang="en-IN" sz="1400" dirty="0"/>
                        <a:t>, </a:t>
                      </a:r>
                      <a:r>
                        <a:rPr lang="en-IN" sz="1400" dirty="0" err="1"/>
                        <a:t>LPRNet</a:t>
                      </a:r>
                      <a:r>
                        <a:rPr lang="en-IN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Edge servers assess data provider reliability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Semantic Distance Minimization (SDM) using KL divergence; adversarial training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894634"/>
                  </a:ext>
                </a:extLst>
              </a:tr>
              <a:tr h="1199647">
                <a:tc>
                  <a:txBody>
                    <a:bodyPr/>
                    <a:lstStyle/>
                    <a:p>
                      <a:r>
                        <a:rPr lang="en-US" sz="1400" dirty="0"/>
                        <a:t>Is Semantic Communications Secure? A Tale of Multi-Domain Adversarial Attacks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Multi-domain adversarial attacks (computer vision and wireless perturbations)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Autoencoder with encoder/decoder and semantic task classifiers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Develop defense methods for safe adoption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07263"/>
                  </a:ext>
                </a:extLst>
              </a:tr>
              <a:tr h="1199647">
                <a:tc>
                  <a:txBody>
                    <a:bodyPr/>
                    <a:lstStyle/>
                    <a:p>
                      <a:r>
                        <a:rPr lang="en-US" sz="1400" dirty="0"/>
                        <a:t>Adversarial Attacks Against Shared Knowledge Interpretation in Semantic Communications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Channel inversion attack (targeted), naive attack (non-targeted)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SEMCOM systems with speech recognition models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Adversarial training; removing residual values in the loss function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191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93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CFFA-533B-C0CD-6EA2-A7F57759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continued…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9CD6C8-4EBA-2BD7-973A-4CE6F02751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173086"/>
              </p:ext>
            </p:extLst>
          </p:nvPr>
        </p:nvGraphicFramePr>
        <p:xfrm>
          <a:off x="838200" y="1825624"/>
          <a:ext cx="10515600" cy="39065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580338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179519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228229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6006004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93010292"/>
                    </a:ext>
                  </a:extLst>
                </a:gridCol>
              </a:tblGrid>
              <a:tr h="398854"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Type of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DNN/Algo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How to Detect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065652"/>
                  </a:ext>
                </a:extLst>
              </a:tr>
              <a:tr h="1016257">
                <a:tc>
                  <a:txBody>
                    <a:bodyPr/>
                    <a:lstStyle/>
                    <a:p>
                      <a:r>
                        <a:rPr lang="en-US" sz="1400" dirty="0"/>
                        <a:t>Physical-layer Adversarial Robustness for Deep Learning-based Semantic Communications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Semantic-oriented physical-layer adversarial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MobileSC</a:t>
                      </a:r>
                      <a:r>
                        <a:rPr lang="en-US" sz="1400" dirty="0"/>
                        <a:t> framework with </a:t>
                      </a:r>
                      <a:r>
                        <a:rPr lang="en-US" sz="1400" dirty="0" err="1"/>
                        <a:t>SemAdv</a:t>
                      </a:r>
                      <a:r>
                        <a:rPr lang="en-US" sz="1400" dirty="0"/>
                        <a:t> perturbation generator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Not explicitly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SemMixed</a:t>
                      </a:r>
                      <a:r>
                        <a:rPr lang="en-IN" sz="1400" dirty="0"/>
                        <a:t> adversarial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467076"/>
                  </a:ext>
                </a:extLst>
              </a:tr>
              <a:tr h="1245735">
                <a:tc>
                  <a:txBody>
                    <a:bodyPr/>
                    <a:lstStyle/>
                    <a:p>
                      <a:r>
                        <a:rPr lang="en-US" sz="1400" dirty="0"/>
                        <a:t>Backdoor Attacks and Defenses on Semantic-Symbol Reconstruction in Semantic Communications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Backdoor attacks on semantic symbols (BASS)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Deep learning-enabled semantic communication systems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Reverse engineering-based and pruning-based strategies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Training framework to prevent BASS; reverse engineering and pruning defenses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602290"/>
                  </a:ext>
                </a:extLst>
              </a:tr>
              <a:tr h="1245735">
                <a:tc>
                  <a:txBody>
                    <a:bodyPr/>
                    <a:lstStyle/>
                    <a:p>
                      <a:r>
                        <a:rPr lang="en-US" sz="1400" dirty="0"/>
                        <a:t>Manipulating Semantic Communication by Adding Adversarial Perturbations to Wireless Channel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Adversarial perturbations on wireless channel (white-box PGD, black-box Square Attack; targeted and non-targeted)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DeepSC</a:t>
                      </a:r>
                      <a:r>
                        <a:rPr lang="en-US" sz="1400" dirty="0"/>
                        <a:t> (Transformer-based encoder and decoder for text)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Not 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20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47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9BAA-6FB7-D539-73A9-A66E35C6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under consideration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5B715-7B91-AA07-C04C-77BE4B05B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plan to focus on adversarial attacks</a:t>
            </a:r>
          </a:p>
          <a:p>
            <a:r>
              <a:rPr lang="en-US" dirty="0"/>
              <a:t>Mainly the ones that directly uses the channel for attack, like: jamming, bit flooding, data spoofing,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Phase-1 will be to make a detection system to identify the type of the adversarial attack</a:t>
            </a:r>
          </a:p>
          <a:p>
            <a:r>
              <a:rPr lang="en-US" dirty="0"/>
              <a:t>Phase-2 will be make a set of instruction to take </a:t>
            </a:r>
            <a:r>
              <a:rPr lang="en-US"/>
              <a:t>action from and train a RL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246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F2CCD1-7FE9-CA68-DE7D-9068F3C15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76" y="94669"/>
            <a:ext cx="7340477" cy="66686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1724FD-D168-CBB0-98A9-6D5010901F1E}"/>
              </a:ext>
            </a:extLst>
          </p:cNvPr>
          <p:cNvSpPr txBox="1"/>
          <p:nvPr/>
        </p:nvSpPr>
        <p:spPr>
          <a:xfrm>
            <a:off x="8170607" y="889843"/>
            <a:ext cx="35986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 1</a:t>
            </a:r>
            <a:r>
              <a:rPr lang="en-US" dirty="0"/>
              <a:t>: Setting up a semantic communication network.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Phase 2.1</a:t>
            </a:r>
            <a:r>
              <a:rPr lang="en-US" dirty="0"/>
              <a:t>: Setting up an attack system for adversarial attacks on the channel.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Phase 2.2</a:t>
            </a:r>
            <a:r>
              <a:rPr lang="en-US" dirty="0"/>
              <a:t>: Setting up an attack detection and identification model.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Phase 3</a:t>
            </a:r>
            <a:r>
              <a:rPr lang="en-US" dirty="0"/>
              <a:t>: Add a RL based feedback loop that get information from the attack detection model and takes necessary steps to protect/restore the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27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E29D-A5BA-2B51-0834-CE439EAD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</a:t>
            </a:r>
            <a:r>
              <a:rPr lang="en-US"/>
              <a:t>Diagram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68F38-9A3F-B28C-52AA-3E9CF13A9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1555"/>
            <a:ext cx="10515600" cy="395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75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2DBC-975D-760C-C68C-576B6370F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Progress till 06/05/2026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0EE3C-5C05-10C1-71D4-64C009A8B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979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D801-46DC-0811-3972-E5B5A792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22933-9B63-E4F6-A401-F72D8B6E7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went through a literature review to find different implementation of model architecture for semantic communication for images</a:t>
            </a:r>
          </a:p>
          <a:p>
            <a:endParaRPr lang="en-US" dirty="0"/>
          </a:p>
          <a:p>
            <a:r>
              <a:rPr lang="en-US" dirty="0"/>
              <a:t>We also worked on an encryption algorithm to detect and potentially fix attacks while transferring information across the channel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698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A42D6B-BDCF-9486-6024-6AD909EAB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926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18D655-8D0B-9FF6-CFB4-DEF49053C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701" y="0"/>
            <a:ext cx="8586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5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C02740-6FDF-E833-8F44-C7943A2AFB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391" y="0"/>
            <a:ext cx="8187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95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CE91A-790F-AE20-6DCB-2BFDF41C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semantic communication for images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33C2F-065F-DDDD-4F9F-35656DACF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Traditional separate source and channel coding fails completely in low Signal-to-Noise Ratio (SNR) environments, but semantic communication avoids this "cliff effect" by remaining robust and delivering recognizable images even when channel conditions degrade.</a:t>
            </a:r>
          </a:p>
          <a:p>
            <a:endParaRPr lang="en-US" sz="2000" dirty="0"/>
          </a:p>
          <a:p>
            <a:r>
              <a:rPr lang="en-US" sz="2000" dirty="0"/>
              <a:t>By utilizing advanced deep learning models like Generative Adversarial Networks (GANs) at the receiver, it can translate highly compressed semantic features back into visually realistic, detail-rich images that align with human perception</a:t>
            </a:r>
          </a:p>
          <a:p>
            <a:endParaRPr lang="en-US" sz="2000" dirty="0"/>
          </a:p>
          <a:p>
            <a:r>
              <a:rPr lang="en-US" sz="2000" dirty="0"/>
              <a:t>Instead of transmitting pixel-perfect copies, it extracts only the essential core meaning and filters out irrelevant or redundant data, which drastically improves compression ratios and preserves tight spectrum resources</a:t>
            </a:r>
          </a:p>
          <a:p>
            <a:endParaRPr lang="en-US" sz="2000" dirty="0"/>
          </a:p>
          <a:p>
            <a:r>
              <a:rPr lang="en-US" sz="2000" dirty="0"/>
              <a:t>By minimizing data redundancy and significantly reducing the payload size, semantic communication can reduce total image transmission delays by over 95%, making it highly effective for real-time Artificial Intelligence of Things (</a:t>
            </a:r>
            <a:r>
              <a:rPr lang="en-US" sz="2000" dirty="0" err="1"/>
              <a:t>AIoT</a:t>
            </a:r>
            <a:r>
              <a:rPr lang="en-US" sz="2000" dirty="0"/>
              <a:t>) applications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00235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83D2-F6CB-569B-4570-92B89D747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output comparison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F717E78-78B1-147D-4AC6-DB8B009BE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4" t="7522" r="19715"/>
          <a:stretch>
            <a:fillRect/>
          </a:stretch>
        </p:blipFill>
        <p:spPr>
          <a:xfrm>
            <a:off x="6872212" y="1690689"/>
            <a:ext cx="4838007" cy="4318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307D95-FD28-E22C-2602-47BE08305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9" y="1690688"/>
            <a:ext cx="6780803" cy="31226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D106C8-545D-3695-9CF4-1C2ABBA267B3}"/>
              </a:ext>
            </a:extLst>
          </p:cNvPr>
          <p:cNvSpPr txBox="1"/>
          <p:nvPr/>
        </p:nvSpPr>
        <p:spPr>
          <a:xfrm>
            <a:off x="2743737" y="5041955"/>
            <a:ext cx="257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 MLP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E3C83-E6AC-9DFC-659A-C85704337171}"/>
              </a:ext>
            </a:extLst>
          </p:cNvPr>
          <p:cNvSpPr txBox="1"/>
          <p:nvPr/>
        </p:nvSpPr>
        <p:spPr>
          <a:xfrm>
            <a:off x="8367251" y="6123543"/>
            <a:ext cx="226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VAE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311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64A539-9BCF-12A7-F262-1C55B91D1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77965"/>
            <a:ext cx="10515600" cy="2628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2765E7-872E-5956-04E6-EA4EAE797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06864"/>
            <a:ext cx="10515600" cy="3077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F79AEE-C0D9-08F6-8526-09C39D0FBA54}"/>
              </a:ext>
            </a:extLst>
          </p:cNvPr>
          <p:cNvSpPr txBox="1"/>
          <p:nvPr/>
        </p:nvSpPr>
        <p:spPr>
          <a:xfrm>
            <a:off x="3962400" y="627165"/>
            <a:ext cx="166624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Latent Image </a:t>
            </a:r>
            <a:r>
              <a:rPr lang="en-US" sz="1100" dirty="0"/>
              <a:t>compression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563657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9B29-96F0-FC23-DC19-34971C20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of Interest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017ED-152B-E9F3-4FA8-C80B1BDDB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dataset and hardware at our disposal, we decide to move forward with the </a:t>
            </a:r>
            <a:r>
              <a:rPr lang="en-US" dirty="0" err="1"/>
              <a:t>DeepJSCC</a:t>
            </a:r>
            <a:r>
              <a:rPr lang="en-US" dirty="0"/>
              <a:t> based model</a:t>
            </a:r>
          </a:p>
          <a:p>
            <a:endParaRPr lang="en-US" dirty="0"/>
          </a:p>
          <a:p>
            <a:r>
              <a:rPr lang="en-US" dirty="0"/>
              <a:t>We tried adding a transformer-layer to the model to try to improve the model performance</a:t>
            </a:r>
          </a:p>
          <a:p>
            <a:endParaRPr lang="en-US" dirty="0"/>
          </a:p>
          <a:p>
            <a:r>
              <a:rPr lang="en-IN" dirty="0"/>
              <a:t>We tested the new model with and without encryption for quality and security of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485840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FAA2E-9031-3D0B-E727-81D653C9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EB9FCF-373F-70D5-6AB6-9F310DCF6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6" y="1953265"/>
            <a:ext cx="12101944" cy="33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05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944E-08DF-A7A4-3346-3457E485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metrics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3D1BD-C8EC-3CF9-3267-98D85EF0A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Compression Ratio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A5D1DD-3790-B15D-F1A7-C6944A3C2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99724"/>
            <a:ext cx="10677832" cy="300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19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D8E2-A1AC-AFD7-46FD-602BD718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7649-6332-5BE6-83A9-536F9DAAA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BER vs SNR and Spectral Efficiency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A4754-5A63-ECE2-ED80-2486D64EE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89053"/>
            <a:ext cx="5085570" cy="32692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EFC19B-7A9D-5CFB-BF71-38B50220C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4"/>
          <a:stretch>
            <a:fillRect/>
          </a:stretch>
        </p:blipFill>
        <p:spPr>
          <a:xfrm>
            <a:off x="6666272" y="2689053"/>
            <a:ext cx="4407528" cy="326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32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6EFB-16D2-7A3C-7919-051BD8180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4837D-7B1D-0237-69A8-B032FEDE8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PSNR and SSIM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6FDDB-B173-FBCC-9B47-EB6EC21A6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07" y="2472982"/>
            <a:ext cx="10971893" cy="411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28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2531-BA65-251E-DE8A-36B0E3C9E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AEA57-B9FB-C6C3-4CD2-1C6672811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Inference Speed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FB51-CA67-9171-711B-1B1AFBB89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386" y="2551641"/>
            <a:ext cx="7314595" cy="411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67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F4C6-8701-2172-7003-73355FAF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Encryption/decryption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992E7-BFCB-7B81-42FA-919CB444B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  <a:p>
            <a:r>
              <a:rPr lang="en-US" dirty="0"/>
              <a:t>explain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370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02AC1-EFBE-1DF7-3D3F-A038A55C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Post Encryption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59905E-CA8D-7E93-5F1A-74804CCA8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550" y="1825625"/>
            <a:ext cx="9313735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DD7ADD-BAFC-445A-0BFF-2FBADF8B1AFB}"/>
              </a:ext>
            </a:extLst>
          </p:cNvPr>
          <p:cNvSpPr txBox="1"/>
          <p:nvPr/>
        </p:nvSpPr>
        <p:spPr>
          <a:xfrm>
            <a:off x="259261" y="2760717"/>
            <a:ext cx="117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CB152-6A58-4331-0F19-48B96A115193}"/>
              </a:ext>
            </a:extLst>
          </p:cNvPr>
          <p:cNvSpPr txBox="1"/>
          <p:nvPr/>
        </p:nvSpPr>
        <p:spPr>
          <a:xfrm>
            <a:off x="114235" y="4085510"/>
            <a:ext cx="1618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Analog channel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65098F-2D6D-FF9F-AA2F-3BBB773971F1}"/>
              </a:ext>
            </a:extLst>
          </p:cNvPr>
          <p:cNvSpPr txBox="1"/>
          <p:nvPr/>
        </p:nvSpPr>
        <p:spPr>
          <a:xfrm>
            <a:off x="28850" y="5379526"/>
            <a:ext cx="178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Secure channel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743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A9B4-C083-EE3A-2CC9-3D16F3C7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Post Encryption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AB431-BDE4-DE6C-751B-DE706B706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Bandwidth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DF2CB-54AE-22D7-6FE7-97F73AB8F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2" y="2651622"/>
            <a:ext cx="10755508" cy="384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94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9E50-F5DA-EC5E-92F7-4E34EEA2E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03650-8862-0AA1-CDC0-5FB831811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BER vs SNR and Spectral Efficiency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5218E-63F4-D90A-C354-51819A609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26182"/>
            <a:ext cx="5043647" cy="3152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1D592C-18CD-04E9-13DF-FD3EE747F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781" y="2726183"/>
            <a:ext cx="5043647" cy="315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68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FEC2-1B5A-38F2-2B9C-82484B5C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5E64-82B6-56C2-2BCB-16EDFB6C5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Jitter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EC249-0872-9E72-93C8-EA8508486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13007"/>
            <a:ext cx="10397122" cy="399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33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8FD6-FE8F-87EE-9F5A-7DE6BDF9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6E0C8-D837-E661-97A9-F74CD9747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main challenges we faced was integrating the encryption algorithm with the pre-build model design</a:t>
            </a:r>
          </a:p>
          <a:p>
            <a:endParaRPr lang="en-US" dirty="0"/>
          </a:p>
          <a:p>
            <a:r>
              <a:rPr lang="en-US" dirty="0"/>
              <a:t>Trying to improve the model performance with a limited dataset and no dataset to fine-tune on</a:t>
            </a:r>
          </a:p>
          <a:p>
            <a:endParaRPr lang="en-IN" dirty="0"/>
          </a:p>
          <a:p>
            <a:r>
              <a:rPr lang="en-IN" dirty="0"/>
              <a:t>Attack simulation of bit-flooding and jamming. Finding a dataset that aligns with our project was difficult.</a:t>
            </a:r>
          </a:p>
        </p:txBody>
      </p:sp>
    </p:spTree>
    <p:extLst>
      <p:ext uri="{BB962C8B-B14F-4D97-AF65-F5344CB8AC3E}">
        <p14:creationId xmlns:p14="http://schemas.microsoft.com/office/powerpoint/2010/main" val="2570038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3EC9-F544-4929-DEF4-1471A90C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Open-source model performance</a:t>
            </a:r>
            <a:endParaRPr lang="en-IN" dirty="0"/>
          </a:p>
        </p:txBody>
      </p:sp>
      <p:pic>
        <p:nvPicPr>
          <p:cNvPr id="1026" name="Picture 2" descr="Reconstructed Images">
            <a:extLst>
              <a:ext uri="{FF2B5EF4-FFF2-40B4-BE49-F238E27FC236}">
                <a16:creationId xmlns:a16="http://schemas.microsoft.com/office/drawing/2014/main" id="{6A6BBF91-C1DD-AEBA-8738-027078CE9B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40854"/>
            <a:ext cx="10515600" cy="425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D11BEB-5E25-288D-07BF-9852B6065F0A}"/>
              </a:ext>
            </a:extLst>
          </p:cNvPr>
          <p:cNvSpPr txBox="1"/>
          <p:nvPr/>
        </p:nvSpPr>
        <p:spPr>
          <a:xfrm>
            <a:off x="4009103" y="6123542"/>
            <a:ext cx="4173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GAN_SeCom</a:t>
            </a:r>
            <a:r>
              <a:rPr lang="en-US" sz="2400" dirty="0"/>
              <a:t> model output</a:t>
            </a:r>
          </a:p>
        </p:txBody>
      </p:sp>
    </p:spTree>
    <p:extLst>
      <p:ext uri="{BB962C8B-B14F-4D97-AF65-F5344CB8AC3E}">
        <p14:creationId xmlns:p14="http://schemas.microsoft.com/office/powerpoint/2010/main" val="3420130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CD20-328E-CC5D-1A38-08C81D94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E27C1-6F8D-018D-0698-E0D4D52F0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plan to use open-source models made for semantic communication by leveraging transfer learning techniques for efficient training and fine-tuning</a:t>
            </a:r>
          </a:p>
          <a:p>
            <a:endParaRPr lang="en-US" dirty="0"/>
          </a:p>
          <a:p>
            <a:r>
              <a:rPr lang="en-IN" dirty="0"/>
              <a:t>We can start working with the in-lab testbed for testing our models and getting better understanding of it’s performance</a:t>
            </a:r>
          </a:p>
          <a:p>
            <a:endParaRPr lang="en-IN" dirty="0"/>
          </a:p>
          <a:p>
            <a:r>
              <a:rPr lang="en-IN" dirty="0"/>
              <a:t>At the final stage we will start with the maths system and modelling of the entire pipeline to make a presentation ready work for this project</a:t>
            </a:r>
          </a:p>
        </p:txBody>
      </p:sp>
    </p:spTree>
    <p:extLst>
      <p:ext uri="{BB962C8B-B14F-4D97-AF65-F5344CB8AC3E}">
        <p14:creationId xmlns:p14="http://schemas.microsoft.com/office/powerpoint/2010/main" val="4106608654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1004</Words>
  <Application>Microsoft Office PowerPoint</Application>
  <PresentationFormat>Widescreen</PresentationFormat>
  <Paragraphs>127</Paragraphs>
  <Slides>30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Progress Report</vt:lpstr>
      <vt:lpstr>Motivation</vt:lpstr>
      <vt:lpstr>Problem Statement</vt:lpstr>
      <vt:lpstr>Paper/Journal Survey</vt:lpstr>
      <vt:lpstr>Survey continued…</vt:lpstr>
      <vt:lpstr>Ideas under consideration</vt:lpstr>
      <vt:lpstr>PowerPoint Presentation</vt:lpstr>
      <vt:lpstr>Block Diagram Overview</vt:lpstr>
      <vt:lpstr>Progress till 06/05/2026</vt:lpstr>
      <vt:lpstr>Introduction</vt:lpstr>
      <vt:lpstr>PowerPoint Presentation</vt:lpstr>
      <vt:lpstr>PowerPoint Presentation</vt:lpstr>
      <vt:lpstr>PowerPoint Presentation</vt:lpstr>
      <vt:lpstr>Why semantic communication for images</vt:lpstr>
      <vt:lpstr>Model output comparison</vt:lpstr>
      <vt:lpstr>PowerPoint Presentation</vt:lpstr>
      <vt:lpstr>Model of Interest</vt:lpstr>
      <vt:lpstr>Block Diagram</vt:lpstr>
      <vt:lpstr>Extended metrics</vt:lpstr>
      <vt:lpstr>PowerPoint Presentation</vt:lpstr>
      <vt:lpstr>PowerPoint Presentation</vt:lpstr>
      <vt:lpstr>PowerPoint Presentation</vt:lpstr>
      <vt:lpstr>Encryption/decryption </vt:lpstr>
      <vt:lpstr>Post Encryption Result</vt:lpstr>
      <vt:lpstr>Post Encryption Metrics</vt:lpstr>
      <vt:lpstr>PowerPoint Presentation</vt:lpstr>
      <vt:lpstr>PowerPoint Presentation</vt:lpstr>
      <vt:lpstr>Challenges Faced</vt:lpstr>
      <vt:lpstr>Open-source model performance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shubhranil basak</dc:creator>
  <cp:lastModifiedBy>shubhranil basak</cp:lastModifiedBy>
  <cp:revision>15</cp:revision>
  <dcterms:created xsi:type="dcterms:W3CDTF">2026-01-30T23:07:51Z</dcterms:created>
  <dcterms:modified xsi:type="dcterms:W3CDTF">2026-05-07T20:43:43Z</dcterms:modified>
</cp:coreProperties>
</file>